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01" dt="2026-08-30T12:28:34.588"/>
    <p1510:client id="{2BECE779-F19F-03E1-8FA1-A29F0D75E7D9}" v="46" dt="2026-08-30T05:44:21.150"/>
    <p1510:client id="{B2A103D8-7914-EA1D-4FAC-47DE54AA8507}" v="32" dt="2026-08-30T05:41:29.453"/>
    <p1510:client id="{F39FFDF1-4B78-1C00-0DCC-D730A62346E0}" v="198" dt="2026-08-30T11:55:39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ho.int/publications/i/item/9789241550505" TargetMode="External"/><Relationship Id="rId3" Type="http://schemas.openxmlformats.org/officeDocument/2006/relationships/hyperlink" Target="https://www.mohfw.gov.in/" TargetMode="External"/><Relationship Id="rId7" Type="http://schemas.openxmlformats.org/officeDocument/2006/relationships/hyperlink" Target="https://www.digitalindia.gov.in/initiative/esanjeevani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https://esanjeevani.mohfw.gov.in/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abdm.gov.in/ebook" TargetMode="External"/><Relationship Id="rId10" Type="http://schemas.openxmlformats.org/officeDocument/2006/relationships/hyperlink" Target="https://www.google.com/search?q=https://www.hl7.org/fhir/" TargetMode="External"/><Relationship Id="rId4" Type="http://schemas.openxmlformats.org/officeDocument/2006/relationships/hyperlink" Target="https://abdm.gov.in/" TargetMode="External"/><Relationship Id="rId9" Type="http://schemas.openxmlformats.org/officeDocument/2006/relationships/hyperlink" Target="https://www.who.int/news/item/17-04-2019-who-releases-first-guideline-on-digital-health-interven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8126" y="1250091"/>
            <a:ext cx="6174150" cy="505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>
                <a:latin typeface="Arial"/>
                <a:ea typeface="ＭＳ Ｐゴシック"/>
                <a:cs typeface="Arial"/>
              </a:rPr>
              <a:t>Problem Statement ID </a:t>
            </a:r>
            <a:r>
              <a:rPr lang="en-US" sz="2400" b="1">
                <a:latin typeface="Arial"/>
                <a:ea typeface="ＭＳ Ｐゴシック"/>
                <a:cs typeface="Arial"/>
              </a:rPr>
              <a:t>– </a:t>
            </a:r>
            <a:r>
              <a:rPr lang="en-US" sz="2400">
                <a:latin typeface="Arial"/>
                <a:ea typeface="ＭＳ Ｐゴシック"/>
                <a:cs typeface="Arial"/>
              </a:rPr>
              <a:t>26133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u="sng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Accessibility and quality of public healthcare services, particularly in rural and underserved areas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u="sng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MedTech /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>
                <a:latin typeface="Arial"/>
                <a:ea typeface="ＭＳ Ｐゴシック"/>
                <a:cs typeface="Arial"/>
              </a:rPr>
              <a:t>PS Category</a:t>
            </a:r>
            <a:r>
              <a:rPr lang="en-US" sz="2400" b="1">
                <a:latin typeface="Arial"/>
                <a:ea typeface="ＭＳ Ｐゴシック"/>
                <a:cs typeface="Arial"/>
              </a:rPr>
              <a:t>- </a:t>
            </a:r>
            <a:r>
              <a:rPr lang="en-US" sz="2400">
                <a:latin typeface="Arial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>
                <a:latin typeface="Arial"/>
                <a:ea typeface="ＭＳ Ｐゴシック"/>
                <a:cs typeface="Arial"/>
              </a:rPr>
              <a:t>Team ID</a:t>
            </a:r>
            <a:r>
              <a:rPr lang="en-US" sz="2400" b="1">
                <a:latin typeface="Arial"/>
                <a:ea typeface="ＭＳ Ｐゴシック"/>
                <a:cs typeface="Arial"/>
              </a:rPr>
              <a:t>- </a:t>
            </a:r>
            <a:r>
              <a:rPr lang="en-US" sz="2400">
                <a:latin typeface="Arial"/>
                <a:ea typeface="ＭＳ Ｐゴシック"/>
                <a:cs typeface="Arial"/>
              </a:rPr>
              <a:t>SIH26-A0H-T392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>
                <a:latin typeface="Arial"/>
                <a:ea typeface="ＭＳ Ｐゴシック"/>
                <a:cs typeface="Arial"/>
              </a:rPr>
              <a:t>Team Name </a:t>
            </a:r>
            <a:r>
              <a:rPr lang="en-US" sz="2400" b="1">
                <a:latin typeface="Arial"/>
                <a:ea typeface="ＭＳ Ｐゴシック"/>
                <a:cs typeface="Arial"/>
              </a:rPr>
              <a:t>- </a:t>
            </a:r>
            <a:r>
              <a:rPr lang="en-US" sz="2400" err="1">
                <a:latin typeface="Arial"/>
                <a:ea typeface="ＭＳ Ｐゴシック"/>
                <a:cs typeface="Arial"/>
              </a:rPr>
              <a:t>ChatGPTers</a:t>
            </a:r>
            <a:endParaRPr lang="en-IN" sz="2400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0C0691-1E1B-5639-C25C-C8A67FCC8C73}"/>
              </a:ext>
            </a:extLst>
          </p:cNvPr>
          <p:cNvSpPr/>
          <p:nvPr/>
        </p:nvSpPr>
        <p:spPr>
          <a:xfrm>
            <a:off x="8706485" y="780639"/>
            <a:ext cx="3470387" cy="386438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850E31-A6DD-6E2B-E3C3-95EE5919722D}"/>
              </a:ext>
            </a:extLst>
          </p:cNvPr>
          <p:cNvSpPr/>
          <p:nvPr/>
        </p:nvSpPr>
        <p:spPr>
          <a:xfrm>
            <a:off x="4928720" y="645085"/>
            <a:ext cx="3671047" cy="334966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F808C33-327F-CD77-32D6-13965DA90FA9}"/>
              </a:ext>
            </a:extLst>
          </p:cNvPr>
          <p:cNvSpPr/>
          <p:nvPr/>
        </p:nvSpPr>
        <p:spPr>
          <a:xfrm>
            <a:off x="4924501" y="4640319"/>
            <a:ext cx="5527637" cy="186241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BBE7A1-8F96-830B-B82E-1AA9084C3E86}"/>
              </a:ext>
            </a:extLst>
          </p:cNvPr>
          <p:cNvSpPr/>
          <p:nvPr/>
        </p:nvSpPr>
        <p:spPr>
          <a:xfrm>
            <a:off x="127599" y="665181"/>
            <a:ext cx="4657163" cy="209101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89232"/>
            <a:ext cx="12191999" cy="3687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39027" y="49305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38759" y="561691"/>
            <a:ext cx="42592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br>
              <a:rPr lang="en-US" dirty="0">
                <a:latin typeface="Arial"/>
                <a:cs typeface="Arial"/>
              </a:rPr>
            </a:br>
            <a:r>
              <a:rPr lang="en-US" sz="1400" b="1">
                <a:solidFill>
                  <a:srgbClr val="FF0000"/>
                </a:solidFill>
                <a:latin typeface="Arial"/>
                <a:ea typeface="ＭＳ Ｐゴシック"/>
                <a:cs typeface="Arial"/>
              </a:rPr>
              <a:t>Challenge We're Solving</a:t>
            </a:r>
          </a:p>
          <a:p>
            <a:endParaRPr lang="en-US" sz="1400" b="1" dirty="0">
              <a:solidFill>
                <a:srgbClr val="FF0000"/>
              </a:solidFill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Arial"/>
                <a:ea typeface="Calibri"/>
                <a:cs typeface="Arial"/>
              </a:rPr>
              <a:t>The Last-Mile Barrier:</a:t>
            </a:r>
            <a:r>
              <a:rPr lang="en-US" sz="1400">
                <a:latin typeface="Arial"/>
                <a:ea typeface="Calibri"/>
                <a:cs typeface="Arial"/>
              </a:rPr>
              <a:t> Rural areas suffer from acute specialist shortages, high travel costs, and delayed emergency triage.</a:t>
            </a:r>
            <a:endParaRPr lang="en-US" sz="1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Calibri"/>
                <a:cs typeface="Arial"/>
              </a:rPr>
              <a:t>Operational Friction:</a:t>
            </a:r>
            <a:r>
              <a:rPr lang="en-US" sz="1400" dirty="0">
                <a:latin typeface="Arial"/>
                <a:ea typeface="Calibri"/>
                <a:cs typeface="Arial"/>
              </a:rPr>
              <a:t> Primary Health </a:t>
            </a:r>
            <a:r>
              <a:rPr lang="en-US" sz="1400" dirty="0" err="1">
                <a:latin typeface="Arial"/>
                <a:ea typeface="Calibri"/>
                <a:cs typeface="Arial"/>
              </a:rPr>
              <a:t>Centres</a:t>
            </a:r>
            <a:r>
              <a:rPr lang="en-US" sz="1400" dirty="0">
                <a:latin typeface="Arial"/>
                <a:ea typeface="Calibri"/>
                <a:cs typeface="Arial"/>
              </a:rPr>
              <a:t> (PHCs) rely on fragmented manual records, causing high drop-offs between initial screening and specialist care.</a:t>
            </a:r>
            <a:endParaRPr lang="en-US" sz="140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0824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528" y="1500"/>
            <a:ext cx="1566291" cy="7709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2FE8A0-B425-11B2-44D4-493BC75B6F02}"/>
              </a:ext>
            </a:extLst>
          </p:cNvPr>
          <p:cNvSpPr txBox="1"/>
          <p:nvPr/>
        </p:nvSpPr>
        <p:spPr>
          <a:xfrm>
            <a:off x="1657275" y="119530"/>
            <a:ext cx="819239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ea typeface="ＭＳ Ｐゴシック"/>
                <a:cs typeface="Times New Roman"/>
              </a:rPr>
              <a:t>RURAL HEALTHCARE SYSTEM AND CO-ORDINATION SYSTEM</a:t>
            </a:r>
            <a:endParaRPr lang="en-US" sz="20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DB71F-32F7-16DA-097C-0A76F1B9BBEF}"/>
              </a:ext>
            </a:extLst>
          </p:cNvPr>
          <p:cNvSpPr txBox="1"/>
          <p:nvPr/>
        </p:nvSpPr>
        <p:spPr>
          <a:xfrm>
            <a:off x="129988" y="2867660"/>
            <a:ext cx="4659854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0070C0"/>
                </a:solidFill>
                <a:latin typeface="Arial"/>
                <a:ea typeface="Google Sans Text"/>
                <a:cs typeface="Arial"/>
              </a:rPr>
              <a:t>Our Revolutionary Solution</a:t>
            </a:r>
          </a:p>
          <a:p>
            <a:endParaRPr lang="en-US" sz="1400" b="1" dirty="0">
              <a:solidFill>
                <a:schemeClr val="tx1"/>
              </a:solidFill>
              <a:latin typeface="Arial"/>
              <a:ea typeface="Google Sans Tex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End-to-End Care Platform:</a:t>
            </a:r>
            <a:r>
              <a:rPr lang="en-US" sz="140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 A unified ecosystem streamlining the patient journey from grassroots data capture to specialist follow-up.</a:t>
            </a:r>
            <a:endParaRPr lang="en-US" sz="1400" dirty="0">
              <a:solidFill>
                <a:schemeClr val="tx1"/>
              </a:solidFill>
              <a:latin typeface="Arial"/>
              <a:ea typeface="Google Sans Tex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Core Workflow Integration:</a:t>
            </a:r>
            <a:endParaRPr lang="en-US" sz="1400" b="1" dirty="0">
              <a:solidFill>
                <a:schemeClr val="tx1"/>
              </a:solidFill>
              <a:latin typeface="Arial"/>
              <a:ea typeface="Google Sans Text"/>
              <a:cs typeface="Arial"/>
            </a:endParaRPr>
          </a:p>
          <a:p>
            <a:pPr marL="228600" lvl="1" indent="-228600">
              <a:buFont typeface=""/>
              <a:buChar char="•"/>
            </a:pPr>
            <a:r>
              <a:rPr lang="en-US" sz="1400" b="1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Smart Data Capture:</a:t>
            </a:r>
            <a:r>
              <a:rPr lang="en-US" sz="140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 Digital logging of symptoms, vitals, and documents by health workers.</a:t>
            </a:r>
            <a:endParaRPr lang="en-US" sz="1400" dirty="0">
              <a:solidFill>
                <a:schemeClr val="tx1"/>
              </a:solidFill>
              <a:latin typeface="Arial"/>
              <a:ea typeface="Google Sans Text"/>
              <a:cs typeface="Arial"/>
            </a:endParaRPr>
          </a:p>
          <a:p>
            <a:pPr marL="228600" lvl="1" indent="-228600">
              <a:buFont typeface=""/>
              <a:buChar char="•"/>
            </a:pPr>
            <a:r>
              <a:rPr lang="en-US" sz="1400" b="1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AI/Rule-Based Triage:</a:t>
            </a:r>
            <a:r>
              <a:rPr lang="en-US" sz="140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 Instant risk stratification to identify and prioritize critical cases.</a:t>
            </a:r>
            <a:endParaRPr lang="en-US" sz="1400" dirty="0">
              <a:solidFill>
                <a:schemeClr val="tx1"/>
              </a:solidFill>
              <a:latin typeface="Arial"/>
              <a:ea typeface="Google Sans Text"/>
              <a:cs typeface="Arial"/>
            </a:endParaRPr>
          </a:p>
          <a:p>
            <a:pPr marL="228600" lvl="1" indent="-228600">
              <a:buFont typeface=""/>
              <a:buChar char="•"/>
            </a:pPr>
            <a:r>
              <a:rPr lang="en-US" sz="1400" b="1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Smart Referral Engine:</a:t>
            </a:r>
            <a:r>
              <a:rPr lang="en-US" sz="140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 Automated facility matching based on clinical need and real-time availability.</a:t>
            </a:r>
            <a:endParaRPr lang="en-US" sz="1400" dirty="0">
              <a:solidFill>
                <a:schemeClr val="tx1"/>
              </a:solidFill>
              <a:latin typeface="Arial"/>
              <a:ea typeface="Google Sans Text"/>
              <a:cs typeface="Arial"/>
            </a:endParaRPr>
          </a:p>
          <a:p>
            <a:pPr marL="228600" lvl="1" indent="-228600">
              <a:buFont typeface="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Teleconsultation &amp; Tracking:</a:t>
            </a:r>
            <a:r>
              <a:rPr lang="en-US" sz="1400" dirty="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 Integration with </a:t>
            </a:r>
            <a:r>
              <a:rPr lang="en-US" sz="1400" dirty="0" err="1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eSanjeevani</a:t>
            </a:r>
            <a:r>
              <a:rPr lang="en-US" sz="1400" dirty="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 and live lifecycle tracking (</a:t>
            </a:r>
            <a:r>
              <a:rPr lang="en-US" sz="1400" i="1" dirty="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Created ---&gt; Visited -----&gt; Treated -----&gt;Follow-up</a:t>
            </a:r>
            <a:r>
              <a:rPr lang="en-US" sz="1400" dirty="0">
                <a:solidFill>
                  <a:schemeClr val="tx1"/>
                </a:solidFill>
                <a:latin typeface="Arial"/>
                <a:ea typeface="Google Sans Text"/>
                <a:cs typeface="Arial"/>
              </a:rPr>
              <a:t>).</a:t>
            </a:r>
          </a:p>
          <a:p>
            <a:pPr algn="ctr"/>
            <a:endParaRPr lang="en-US" sz="1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A4C89-AF81-C97E-1F0B-97E6DEA5502D}"/>
              </a:ext>
            </a:extLst>
          </p:cNvPr>
          <p:cNvSpPr txBox="1"/>
          <p:nvPr/>
        </p:nvSpPr>
        <p:spPr>
          <a:xfrm>
            <a:off x="4929245" y="671158"/>
            <a:ext cx="3664324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FFC000"/>
                </a:solidFill>
                <a:latin typeface="Arial"/>
                <a:ea typeface="ＭＳ Ｐゴシック"/>
                <a:cs typeface="Arial"/>
              </a:rPr>
              <a:t>Addressing the Core Problem!</a:t>
            </a:r>
          </a:p>
          <a:p>
            <a:endParaRPr lang="en-US" sz="14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Specialist Access:</a:t>
            </a:r>
            <a:r>
              <a:rPr lang="en-US" sz="1400">
                <a:latin typeface="Arial"/>
                <a:ea typeface="ＭＳ Ｐゴシック"/>
                <a:cs typeface="Arial"/>
              </a:rPr>
              <a:t> Connects rural patients directly to specialists via remote teleconsultation, cutting travel.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Drop-Off Prevention:</a:t>
            </a:r>
            <a:r>
              <a:rPr lang="en-US" sz="1400">
                <a:latin typeface="Arial"/>
                <a:ea typeface="ＭＳ Ｐゴシック"/>
                <a:cs typeface="Arial"/>
              </a:rPr>
              <a:t> Live tracking and automated SMS alerts ensure patients complete hospital visits.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Offline Resilience:</a:t>
            </a:r>
            <a:r>
              <a:rPr lang="en-US" sz="1400">
                <a:latin typeface="Arial"/>
                <a:ea typeface="ＭＳ Ｐゴシック"/>
                <a:cs typeface="Arial"/>
              </a:rPr>
              <a:t> Secure local caching allows smooth operation in low-connectivity areas.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Govt. Compliance:</a:t>
            </a:r>
            <a:r>
              <a:rPr lang="en-US" sz="1400">
                <a:latin typeface="Arial"/>
                <a:ea typeface="ＭＳ Ｐゴシック"/>
                <a:cs typeface="Arial"/>
              </a:rPr>
              <a:t> Fully aligned with </a:t>
            </a:r>
            <a:r>
              <a:rPr lang="en-US" sz="1400" b="1">
                <a:latin typeface="Arial"/>
                <a:ea typeface="ＭＳ Ｐゴシック"/>
                <a:cs typeface="Arial"/>
              </a:rPr>
              <a:t>ABDM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 </a:t>
            </a:r>
            <a:r>
              <a:rPr lang="en-US" sz="1400">
                <a:latin typeface="Arial"/>
                <a:ea typeface="ＭＳ Ｐゴシック"/>
                <a:cs typeface="Arial"/>
              </a:rPr>
              <a:t>standards for secure health records.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algn="ctr"/>
            <a:endParaRPr lang="en-US" sz="14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398D8-F5E9-2B8B-EAAE-23A39C9BD6E8}"/>
              </a:ext>
            </a:extLst>
          </p:cNvPr>
          <p:cNvSpPr txBox="1"/>
          <p:nvPr/>
        </p:nvSpPr>
        <p:spPr>
          <a:xfrm>
            <a:off x="5069691" y="4635949"/>
            <a:ext cx="508926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92D050"/>
                </a:solidFill>
                <a:latin typeface="Arial"/>
                <a:ea typeface="ＭＳ Ｐゴシック"/>
                <a:cs typeface="Arial"/>
              </a:rPr>
              <a:t>Beyond Problem Statement</a:t>
            </a:r>
          </a:p>
          <a:p>
            <a:endParaRPr lang="en-US" sz="14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Epidemiological Insights:</a:t>
            </a:r>
            <a:r>
              <a:rPr lang="en-US" sz="1400">
                <a:latin typeface="Arial"/>
                <a:ea typeface="ＭＳ Ｐゴシック"/>
                <a:cs typeface="Arial"/>
              </a:rPr>
              <a:t> District-level dashboards track disease patterns and resource bottlenecks in real time.</a:t>
            </a: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Empowering Workers:</a:t>
            </a:r>
            <a:r>
              <a:rPr lang="en-US" sz="1400">
                <a:latin typeface="Arial"/>
                <a:ea typeface="ＭＳ Ｐゴシック"/>
                <a:cs typeface="Arial"/>
              </a:rPr>
              <a:t> Cuts administrative paperwork for ASHA and ANM workers by up to 70%.</a:t>
            </a: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Cost Reduction:</a:t>
            </a:r>
            <a:r>
              <a:rPr lang="en-US" sz="1400">
                <a:latin typeface="Arial"/>
                <a:ea typeface="ＭＳ Ｐゴシック"/>
                <a:cs typeface="Arial"/>
              </a:rPr>
              <a:t> Minimizes out-of-pocket health and travel expenditures for rural families.</a:t>
            </a:r>
          </a:p>
          <a:p>
            <a:pPr algn="ctr"/>
            <a:endParaRPr lang="en-US" sz="14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26F14-8DD8-9ED4-EF66-41F09142C113}"/>
              </a:ext>
            </a:extLst>
          </p:cNvPr>
          <p:cNvSpPr txBox="1"/>
          <p:nvPr/>
        </p:nvSpPr>
        <p:spPr>
          <a:xfrm>
            <a:off x="8742082" y="1057238"/>
            <a:ext cx="3481145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7030A0"/>
                </a:solidFill>
                <a:latin typeface="Arial"/>
                <a:ea typeface="ＭＳ Ｐゴシック"/>
                <a:cs typeface="Arial"/>
              </a:rPr>
              <a:t>What Makes Us Different</a:t>
            </a:r>
          </a:p>
          <a:p>
            <a:endParaRPr lang="en-US" sz="14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Holistic Coordination:</a:t>
            </a:r>
            <a:r>
              <a:rPr lang="en-US" sz="1400">
                <a:latin typeface="Arial"/>
                <a:ea typeface="ＭＳ Ｐゴシック"/>
                <a:cs typeface="Arial"/>
              </a:rPr>
              <a:t> Unifies triage, routing, teleconsultation, and tracking into a single platform instead of isolated tools.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Ecosystem Synergy: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 Native interoperability with national frameworks like </a:t>
            </a:r>
            <a:r>
              <a:rPr lang="en-US" sz="1400" b="1" dirty="0">
                <a:latin typeface="Arial"/>
                <a:ea typeface="ＭＳ Ｐゴシック"/>
                <a:cs typeface="Arial"/>
              </a:rPr>
              <a:t>ABDM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 and </a:t>
            </a:r>
            <a:r>
              <a:rPr lang="en-US" sz="1400" b="1" dirty="0" err="1">
                <a:latin typeface="Arial"/>
                <a:ea typeface="ＭＳ Ｐゴシック"/>
                <a:cs typeface="Arial"/>
              </a:rPr>
              <a:t>eSanjeevani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.</a:t>
            </a: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Automated Escalation:</a:t>
            </a:r>
            <a:r>
              <a:rPr lang="en-US" sz="1400">
                <a:latin typeface="Arial"/>
                <a:ea typeface="ＭＳ Ｐゴシック"/>
                <a:cs typeface="Arial"/>
              </a:rPr>
              <a:t> Risk algorithms instantly flag and escalate critical cases to administrators.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1400" b="1">
                <a:latin typeface="Arial"/>
                <a:ea typeface="ＭＳ Ｐゴシック"/>
                <a:cs typeface="Arial"/>
              </a:rPr>
              <a:t>Role-Based Design:</a:t>
            </a:r>
            <a:r>
              <a:rPr lang="en-US" sz="1400">
                <a:latin typeface="Arial"/>
                <a:ea typeface="ＭＳ Ｐゴシック"/>
                <a:cs typeface="Arial"/>
              </a:rPr>
              <a:t> Tailored interfaces for Health Workers, Patients, Specialists, and Admins.</a:t>
            </a:r>
            <a:endParaRPr lang="en-US" sz="1400" dirty="0">
              <a:latin typeface="Arial"/>
              <a:ea typeface="ＭＳ Ｐゴシック"/>
              <a:cs typeface="Arial"/>
            </a:endParaRPr>
          </a:p>
          <a:p>
            <a:pPr algn="ctr"/>
            <a:endParaRPr lang="en-US" sz="1400" dirty="0">
              <a:latin typeface="Arial"/>
              <a:cs typeface="Arial"/>
            </a:endParaRP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1DF7BED4-34BA-7727-23F6-A92739932F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6573" y="110006"/>
            <a:ext cx="1416359" cy="5238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r>
              <a:rPr lang="en-US" sz="1100" b="1" dirty="0" err="1">
                <a:latin typeface="Arial"/>
                <a:ea typeface="Calibri"/>
                <a:cs typeface="Arial"/>
              </a:rPr>
              <a:t>ChatGPTers</a:t>
            </a:r>
            <a:endParaRPr lang="en-US" sz="1100" b="1">
              <a:latin typeface="Arial"/>
              <a:ea typeface="Calibri"/>
              <a:cs typeface="Arial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6573" y="110006"/>
            <a:ext cx="1416359" cy="5238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r>
              <a:rPr lang="en-US" sz="1100" b="1" dirty="0" err="1">
                <a:latin typeface="Arial"/>
                <a:ea typeface="Calibri"/>
                <a:cs typeface="Arial"/>
              </a:rPr>
              <a:t>ChatGPTers</a:t>
            </a:r>
            <a:endParaRPr lang="en-US" sz="1100" b="1">
              <a:latin typeface="Arial"/>
              <a:ea typeface="Calibri"/>
              <a:cs typeface="Arial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22CA11-4B61-273A-3C06-7935211B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76" b="-58"/>
          <a:stretch>
            <a:fillRect/>
          </a:stretch>
        </p:blipFill>
        <p:spPr>
          <a:xfrm>
            <a:off x="127000" y="752709"/>
            <a:ext cx="11671300" cy="56012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FE6086-0B08-F1CB-3D76-B42CCBA4B0A3}"/>
              </a:ext>
            </a:extLst>
          </p:cNvPr>
          <p:cNvSpPr/>
          <p:nvPr/>
        </p:nvSpPr>
        <p:spPr>
          <a:xfrm>
            <a:off x="207108" y="1071111"/>
            <a:ext cx="5676900" cy="51166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645" y="1501"/>
            <a:ext cx="1801616" cy="8158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6BB098-EBE5-DF1C-D963-21F283F06EC9}"/>
              </a:ext>
            </a:extLst>
          </p:cNvPr>
          <p:cNvSpPr txBox="1"/>
          <p:nvPr/>
        </p:nvSpPr>
        <p:spPr>
          <a:xfrm>
            <a:off x="233599" y="1098176"/>
            <a:ext cx="551731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Technical Feasibility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Scalable Architecture:</a:t>
            </a:r>
            <a:r>
              <a:rPr lang="en-US" sz="1200">
                <a:latin typeface="Arial"/>
                <a:ea typeface="ＭＳ Ｐゴシック"/>
                <a:cs typeface="Arial"/>
              </a:rPr>
              <a:t> Modular web and mobile framework ensures robust performance and seamless handling of concurrent users across district networks.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Low-Bandwidth Optimization:</a:t>
            </a:r>
            <a:r>
              <a:rPr lang="en-US" sz="1200">
                <a:latin typeface="Arial"/>
                <a:ea typeface="ＭＳ Ｐゴシック"/>
                <a:cs typeface="Arial"/>
              </a:rPr>
              <a:t> Designed to function efficiently in remote regions with high data-compression and responsive layouts.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Offline Resilience:</a:t>
            </a:r>
            <a:r>
              <a:rPr lang="en-US" sz="1200">
                <a:latin typeface="Arial"/>
                <a:ea typeface="ＭＳ Ｐゴシック"/>
                <a:cs typeface="Arial"/>
              </a:rPr>
              <a:t> Local data caching architecture enables continuous grassroots operation even during total internet blackouts.</a:t>
            </a:r>
          </a:p>
          <a:p>
            <a:pPr algn="ctr"/>
            <a:endParaRPr lang="en-US" sz="1200"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5105A-9195-8C92-1127-194EEAA5D6C3}"/>
              </a:ext>
            </a:extLst>
          </p:cNvPr>
          <p:cNvSpPr txBox="1"/>
          <p:nvPr/>
        </p:nvSpPr>
        <p:spPr>
          <a:xfrm>
            <a:off x="250266" y="4509362"/>
            <a:ext cx="54908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Regulatory &amp; Legal Feasibility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ABDM Alignment:</a:t>
            </a:r>
            <a:r>
              <a:rPr lang="en-US" sz="1200">
                <a:latin typeface="Arial"/>
                <a:ea typeface="ＭＳ Ｐゴシック"/>
                <a:cs typeface="Arial"/>
              </a:rPr>
              <a:t> Fully aligned with the Ayushman Bharat Digital Mission standards for secure health records exchange.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Data Privacy:</a:t>
            </a:r>
            <a:r>
              <a:rPr lang="en-US" sz="1200">
                <a:latin typeface="Arial"/>
                <a:ea typeface="ＭＳ Ｐゴシック"/>
                <a:cs typeface="Arial"/>
              </a:rPr>
              <a:t> Role-based access control and end-to-end encryption ensure total patient data confidentiality.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Standard Compliant:</a:t>
            </a:r>
            <a:r>
              <a:rPr lang="en-US" sz="1200">
                <a:latin typeface="Arial"/>
                <a:ea typeface="ＭＳ Ｐゴシック"/>
                <a:cs typeface="Arial"/>
              </a:rPr>
              <a:t> Adheres to national public health governance and digital health interoperability protocols.</a:t>
            </a:r>
          </a:p>
          <a:p>
            <a:pPr algn="ctr"/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033E7-003B-7521-8CB2-968ED7A9826D}"/>
              </a:ext>
            </a:extLst>
          </p:cNvPr>
          <p:cNvSpPr txBox="1"/>
          <p:nvPr/>
        </p:nvSpPr>
        <p:spPr>
          <a:xfrm>
            <a:off x="208314" y="2820148"/>
            <a:ext cx="55693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Economic &amp; Business Feasibility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Operational Cost Reduction:</a:t>
            </a:r>
            <a:r>
              <a:rPr lang="en-US" sz="1200">
                <a:latin typeface="Arial"/>
                <a:ea typeface="ＭＳ Ｐゴシック"/>
                <a:cs typeface="Arial"/>
              </a:rPr>
              <a:t> Achieves up to </a:t>
            </a:r>
            <a:r>
              <a:rPr lang="en-US" sz="1200" b="1">
                <a:latin typeface="Arial"/>
                <a:ea typeface="ＭＳ Ｐゴシック"/>
                <a:cs typeface="Arial"/>
              </a:rPr>
              <a:t>70% savings</a:t>
            </a:r>
            <a:r>
              <a:rPr lang="en-US" sz="1200">
                <a:latin typeface="Arial"/>
                <a:ea typeface="ＭＳ Ｐゴシック"/>
                <a:cs typeface="Arial"/>
              </a:rPr>
              <a:t> in administrative paperwork and manual coordination overhead for health workers.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Resource Optimization:</a:t>
            </a:r>
            <a:r>
              <a:rPr lang="en-US" sz="1200">
                <a:latin typeface="Arial"/>
                <a:ea typeface="ＭＳ Ｐゴシック"/>
                <a:cs typeface="Arial"/>
              </a:rPr>
              <a:t> Eliminates redundant travel and maximizes the utilization of available specialists and facility beds.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Public-Sector Scalability:</a:t>
            </a:r>
            <a:r>
              <a:rPr lang="en-US" sz="1200">
                <a:latin typeface="Arial"/>
                <a:ea typeface="ＭＳ Ｐゴシック"/>
                <a:cs typeface="Arial"/>
              </a:rPr>
              <a:t> High economic viability for state and central deployment with minimal hardware infrastructure costs.</a:t>
            </a:r>
          </a:p>
          <a:p>
            <a:pPr algn="ctr"/>
            <a:endParaRPr lang="en-US" sz="12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2E023-30A9-68F7-FB29-DD7D69DA1AE6}"/>
              </a:ext>
            </a:extLst>
          </p:cNvPr>
          <p:cNvSpPr txBox="1"/>
          <p:nvPr/>
        </p:nvSpPr>
        <p:spPr>
          <a:xfrm>
            <a:off x="6189039" y="1064558"/>
            <a:ext cx="5692589" cy="5047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Arial"/>
                <a:ea typeface="Google Sans Text"/>
                <a:cs typeface="Arial"/>
              </a:rPr>
              <a:t>Challenges &amp; Solutions</a:t>
            </a:r>
            <a:endParaRPr lang="en-US" sz="1400" b="1">
              <a:latin typeface="Arial"/>
              <a:cs typeface="Arial"/>
            </a:endParaRPr>
          </a:p>
          <a:p>
            <a:endParaRPr lang="en-US" sz="1400" b="1" dirty="0">
              <a:solidFill>
                <a:srgbClr val="000000"/>
              </a:solidFill>
              <a:latin typeface="Arial"/>
              <a:ea typeface="Google Sans Text"/>
              <a:cs typeface="Arial"/>
            </a:endParaRPr>
          </a:p>
          <a:p>
            <a:r>
              <a:rPr lang="en-US" sz="1400" b="1">
                <a:solidFill>
                  <a:srgbClr val="C00000"/>
                </a:solidFill>
                <a:latin typeface="Arial"/>
                <a:ea typeface="Google Sans Text"/>
                <a:cs typeface="Arial"/>
              </a:rPr>
              <a:t>Challenge 1: Referral Drop-Offs</a:t>
            </a:r>
          </a:p>
          <a:p>
            <a:pPr marL="228600" indent="-228600">
              <a:buFont typeface=""/>
              <a:buChar char="•"/>
            </a:pPr>
            <a:r>
              <a:rPr lang="en-US" sz="1400">
                <a:latin typeface="Arial"/>
                <a:ea typeface="Google Sans Text"/>
                <a:cs typeface="Arial"/>
              </a:rPr>
              <a:t>Patients frequently fail to visit higher-facility hospitals after initial screening, leading to critical health complications going untreated.</a:t>
            </a:r>
            <a:endParaRPr lang="en-US" sz="1400" dirty="0">
              <a:latin typeface="Arial"/>
              <a:ea typeface="Google Sans Tex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latin typeface="Arial"/>
                <a:ea typeface="Google Sans Text"/>
                <a:cs typeface="Arial"/>
              </a:rPr>
              <a:t>Solution: Lifecycle Tracking &amp; Alerts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Arial"/>
                <a:ea typeface="Google Sans Text"/>
                <a:cs typeface="Arial"/>
              </a:rPr>
              <a:t>Deploys an automated end-to-end lifecycle tracking system (</a:t>
            </a:r>
            <a:r>
              <a:rPr lang="en-US" sz="1400" i="1" dirty="0">
                <a:latin typeface="Arial"/>
                <a:ea typeface="Google Sans Text"/>
                <a:cs typeface="Arial"/>
              </a:rPr>
              <a:t>Created --&gt; Visited --&gt; Treated --&gt; Follow-up</a:t>
            </a:r>
            <a:r>
              <a:rPr lang="en-US" sz="1400" dirty="0">
                <a:latin typeface="Arial"/>
                <a:ea typeface="Google Sans Text"/>
                <a:cs typeface="Arial"/>
              </a:rPr>
              <a:t>).</a:t>
            </a:r>
          </a:p>
          <a:p>
            <a:pPr marL="228600" lvl="1" indent="-228600">
              <a:buFont typeface=""/>
              <a:buChar char="•"/>
            </a:pPr>
            <a:r>
              <a:rPr lang="en-US" sz="1400">
                <a:latin typeface="Arial"/>
                <a:ea typeface="Google Sans Text"/>
                <a:cs typeface="Arial"/>
              </a:rPr>
              <a:t>Automated SMS and reminder alerts notify both patients and health workers to ensure successful hospital visits.</a:t>
            </a:r>
            <a:endParaRPr lang="en-US" sz="1400" dirty="0">
              <a:latin typeface="Arial"/>
              <a:ea typeface="Google Sans Text"/>
              <a:cs typeface="Arial"/>
            </a:endParaRPr>
          </a:p>
          <a:p>
            <a:r>
              <a:rPr lang="en-US" sz="1400" b="1">
                <a:solidFill>
                  <a:srgbClr val="C00000"/>
                </a:solidFill>
                <a:latin typeface="Arial"/>
                <a:ea typeface="Google Sans Text"/>
                <a:cs typeface="Arial"/>
              </a:rPr>
              <a:t>Challenge 2: Connectivity Constraints</a:t>
            </a:r>
          </a:p>
          <a:p>
            <a:pPr marL="228600" indent="-228600">
              <a:buFont typeface=""/>
              <a:buChar char="•"/>
            </a:pPr>
            <a:r>
              <a:rPr lang="en-US" sz="1400">
                <a:latin typeface="Arial"/>
                <a:ea typeface="Google Sans Text"/>
                <a:cs typeface="Arial"/>
              </a:rPr>
              <a:t>Unreliable internet infrastructure in remote rural areas disrupts cloud-dependent health platforms and live coordination.</a:t>
            </a:r>
            <a:endParaRPr lang="en-US" sz="1400" dirty="0">
              <a:latin typeface="Arial"/>
              <a:ea typeface="Google Sans Tex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latin typeface="Arial"/>
                <a:ea typeface="Google Sans Text"/>
                <a:cs typeface="Arial"/>
              </a:rPr>
              <a:t>Solution: Offline-First Caching Architecture</a:t>
            </a:r>
          </a:p>
          <a:p>
            <a:pPr marL="228600" lvl="1" indent="-228600">
              <a:buFont typeface=""/>
              <a:buChar char="•"/>
            </a:pPr>
            <a:r>
              <a:rPr lang="en-US" sz="1400">
                <a:latin typeface="Arial"/>
                <a:ea typeface="Google Sans Text"/>
                <a:cs typeface="Arial"/>
              </a:rPr>
              <a:t>Local data caching allows health workers to capture vitals and sync records automatically once network connectivity is restored.</a:t>
            </a:r>
            <a:endParaRPr lang="en-US" sz="1400" dirty="0">
              <a:latin typeface="Arial"/>
              <a:ea typeface="Google Sans Text"/>
              <a:cs typeface="Arial"/>
            </a:endParaRPr>
          </a:p>
          <a:p>
            <a:r>
              <a:rPr lang="en-US" sz="1400" b="1">
                <a:solidFill>
                  <a:srgbClr val="C00000"/>
                </a:solidFill>
                <a:latin typeface="Arial"/>
                <a:ea typeface="Google Sans Text"/>
                <a:cs typeface="Arial"/>
              </a:rPr>
              <a:t>Challenge 3: Digital Literacy Barriers</a:t>
            </a:r>
          </a:p>
          <a:p>
            <a:pPr marL="228600" indent="-228600">
              <a:buFont typeface=""/>
              <a:buChar char="•"/>
            </a:pPr>
            <a:r>
              <a:rPr lang="en-US" sz="1400">
                <a:latin typeface="Arial"/>
                <a:ea typeface="Google Sans Text"/>
                <a:cs typeface="Arial"/>
              </a:rPr>
              <a:t>Frontline ASHA and ANM workers may struggle with complex UI/UX designs during rapid field data entry.</a:t>
            </a:r>
            <a:endParaRPr lang="en-US" sz="1400" dirty="0">
              <a:latin typeface="Arial"/>
              <a:ea typeface="Google Sans Tex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latin typeface="Arial"/>
                <a:ea typeface="Google Sans Text"/>
                <a:cs typeface="Arial"/>
              </a:rPr>
              <a:t>Solution: Intuitive &amp; Multilingual Design</a:t>
            </a:r>
          </a:p>
          <a:p>
            <a:pPr marL="228600" lvl="1" indent="-228600">
              <a:buFont typeface=""/>
              <a:buChar char="•"/>
            </a:pPr>
            <a:r>
              <a:rPr lang="en-US" sz="1400">
                <a:latin typeface="Arial"/>
                <a:ea typeface="Google Sans Text"/>
                <a:cs typeface="Arial"/>
              </a:rPr>
              <a:t>Streamlined, role-based interfaces with regional language support and minimal typing requirements tailored for grassroots users.</a:t>
            </a:r>
            <a:endParaRPr lang="en-US" sz="1400" dirty="0">
              <a:latin typeface="Arial"/>
              <a:ea typeface="Google Sans Text"/>
              <a:cs typeface="Arial"/>
            </a:endParaRPr>
          </a:p>
          <a:p>
            <a:pPr algn="ctr"/>
            <a:endParaRPr lang="en-US" sz="1400" dirty="0">
              <a:latin typeface="Arial"/>
              <a:cs typeface="Arial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7CEE33-DB4E-E632-69B3-3F1163D3EB79}"/>
              </a:ext>
            </a:extLst>
          </p:cNvPr>
          <p:cNvCxnSpPr/>
          <p:nvPr/>
        </p:nvCxnSpPr>
        <p:spPr>
          <a:xfrm flipH="1">
            <a:off x="6037730" y="1066801"/>
            <a:ext cx="15687" cy="515022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8F92B3-8314-D401-2375-C45152429DD8}"/>
              </a:ext>
            </a:extLst>
          </p:cNvPr>
          <p:cNvCxnSpPr/>
          <p:nvPr/>
        </p:nvCxnSpPr>
        <p:spPr>
          <a:xfrm>
            <a:off x="6193492" y="6283137"/>
            <a:ext cx="5699310" cy="179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58E54F67-C8D2-8D84-0F8A-DDCE7E6D1F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6573" y="110006"/>
            <a:ext cx="1416359" cy="5238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r>
              <a:rPr lang="en-US" sz="1100" b="1" dirty="0" err="1">
                <a:latin typeface="Arial"/>
                <a:ea typeface="Calibri"/>
                <a:cs typeface="Arial"/>
              </a:rPr>
              <a:t>ChatGPTers</a:t>
            </a:r>
            <a:endParaRPr lang="en-US" sz="1100" b="1">
              <a:latin typeface="Arial"/>
              <a:ea typeface="Calibri"/>
              <a:cs typeface="Arial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890F41-9E5F-A64E-925A-0D8FF25F3EB3}"/>
              </a:ext>
            </a:extLst>
          </p:cNvPr>
          <p:cNvSpPr/>
          <p:nvPr/>
        </p:nvSpPr>
        <p:spPr>
          <a:xfrm>
            <a:off x="5302984" y="3407751"/>
            <a:ext cx="1891323" cy="4064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0E365C-3635-CE8B-CB1C-E8E066FEE1D1}"/>
              </a:ext>
            </a:extLst>
          </p:cNvPr>
          <p:cNvSpPr/>
          <p:nvPr/>
        </p:nvSpPr>
        <p:spPr>
          <a:xfrm>
            <a:off x="4847492" y="822569"/>
            <a:ext cx="3600938" cy="4259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4E7EF4-F4E3-5238-484B-4B72CB9F6055}"/>
              </a:ext>
            </a:extLst>
          </p:cNvPr>
          <p:cNvSpPr/>
          <p:nvPr/>
        </p:nvSpPr>
        <p:spPr>
          <a:xfrm>
            <a:off x="8456451" y="3713055"/>
            <a:ext cx="3738985" cy="2597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550B07-2322-7883-0608-C5AB5CA16D2D}"/>
              </a:ext>
            </a:extLst>
          </p:cNvPr>
          <p:cNvSpPr/>
          <p:nvPr/>
        </p:nvSpPr>
        <p:spPr>
          <a:xfrm>
            <a:off x="4652683" y="3953319"/>
            <a:ext cx="3500084" cy="21895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A3649B-5065-423D-7C16-1A12E6169B44}"/>
              </a:ext>
            </a:extLst>
          </p:cNvPr>
          <p:cNvSpPr/>
          <p:nvPr/>
        </p:nvSpPr>
        <p:spPr>
          <a:xfrm>
            <a:off x="361403" y="3953321"/>
            <a:ext cx="4052046" cy="22188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75E5D4-76B5-C003-0A25-425D828A9568}"/>
              </a:ext>
            </a:extLst>
          </p:cNvPr>
          <p:cNvSpPr/>
          <p:nvPr/>
        </p:nvSpPr>
        <p:spPr>
          <a:xfrm>
            <a:off x="8554055" y="1395218"/>
            <a:ext cx="3537150" cy="204676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35D3E8-C162-4FD9-9DE8-AF3938D00AC2}"/>
              </a:ext>
            </a:extLst>
          </p:cNvPr>
          <p:cNvSpPr/>
          <p:nvPr/>
        </p:nvSpPr>
        <p:spPr>
          <a:xfrm>
            <a:off x="4554702" y="1512449"/>
            <a:ext cx="3895164" cy="182207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606586-69FF-6858-7C9D-7CA5DBBF05CE}"/>
              </a:ext>
            </a:extLst>
          </p:cNvPr>
          <p:cNvSpPr/>
          <p:nvPr/>
        </p:nvSpPr>
        <p:spPr>
          <a:xfrm>
            <a:off x="361404" y="1590603"/>
            <a:ext cx="3895164" cy="182207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1737" y="1651548"/>
            <a:ext cx="365909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sz="1200" b="1">
                <a:latin typeface="Arial"/>
                <a:ea typeface="ＭＳ Ｐゴシック"/>
                <a:cs typeface="Arial"/>
              </a:rPr>
              <a:t>1. Rural Patients &amp; Communities</a:t>
            </a:r>
            <a:endParaRPr lang="en-US" sz="1200">
              <a:latin typeface="Arial"/>
              <a:ea typeface="ＭＳ Ｐゴシック"/>
              <a:cs typeface="Arial"/>
            </a:endParaRPr>
          </a:p>
          <a:p>
            <a:pPr algn="just">
              <a:defRPr/>
            </a:pPr>
            <a:endParaRPr lang="en-US" sz="1200" b="1" dirty="0"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Arial"/>
                <a:ea typeface="Calibri"/>
                <a:cs typeface="Arial"/>
              </a:rPr>
              <a:t>Direct Access:</a:t>
            </a:r>
            <a:r>
              <a:rPr lang="en-US" sz="1200">
                <a:solidFill>
                  <a:prstClr val="black"/>
                </a:solidFill>
                <a:latin typeface="Arial"/>
                <a:ea typeface="Calibri"/>
                <a:cs typeface="Arial"/>
              </a:rPr>
              <a:t> Grants transparent, reliable access to specialists, eliminating travel uncertainty and out-of-pocket transit expenses.</a:t>
            </a:r>
            <a:endParaRPr lang="en-US" sz="1200">
              <a:solidFill>
                <a:prstClr val="black"/>
              </a:solidFill>
              <a:latin typeface="Arial"/>
              <a:cs typeface="Arial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1200" b="1">
                <a:solidFill>
                  <a:prstClr val="black"/>
                </a:solidFill>
                <a:latin typeface="Arial"/>
                <a:ea typeface="Calibri"/>
                <a:cs typeface="Arial"/>
              </a:rPr>
              <a:t>Proactive Care:</a:t>
            </a:r>
            <a:r>
              <a:rPr lang="en-US" sz="1200">
                <a:solidFill>
                  <a:prstClr val="black"/>
                </a:solidFill>
                <a:latin typeface="Arial"/>
                <a:ea typeface="Calibri"/>
                <a:cs typeface="Arial"/>
              </a:rPr>
              <a:t> Ensures timely emergency interventions and continuous health tracking for critical conditions.</a:t>
            </a:r>
            <a:endParaRPr lang="en-US" sz="1200">
              <a:solidFill>
                <a:prstClr val="black"/>
              </a:solidFill>
              <a:latin typeface="Arial"/>
              <a:cs typeface="Arial"/>
            </a:endParaRPr>
          </a:p>
          <a:p>
            <a:pPr algn="just">
              <a:buFont typeface="Arial" panose="020B0604020202020204" pitchFamily="34" charset="0"/>
              <a:defRPr/>
            </a:pPr>
            <a:endParaRPr lang="en-US" sz="1200" b="1" dirty="0">
              <a:solidFill>
                <a:prstClr val="black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A2B4F7-9082-94D1-DBF1-69856D1430AB}"/>
              </a:ext>
            </a:extLst>
          </p:cNvPr>
          <p:cNvSpPr txBox="1"/>
          <p:nvPr/>
        </p:nvSpPr>
        <p:spPr>
          <a:xfrm>
            <a:off x="4562231" y="1650427"/>
            <a:ext cx="3887293" cy="18227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Arial"/>
                <a:ea typeface="ＭＳ Ｐゴシック"/>
                <a:cs typeface="Arial"/>
              </a:rPr>
              <a:t>2. Frontline Health Workers (ASHA / ANM)</a:t>
            </a:r>
          </a:p>
          <a:p>
            <a:endParaRPr lang="en-US" sz="12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Workflow Efficiency:</a:t>
            </a:r>
            <a:r>
              <a:rPr lang="en-US" sz="1200">
                <a:latin typeface="Arial"/>
                <a:ea typeface="ＭＳ Ｐゴシック"/>
                <a:cs typeface="Arial"/>
              </a:rPr>
              <a:t> Streamlines field-level data capture, symptom logging, and risk stratification right at the doorstep.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Reduced Burden:</a:t>
            </a:r>
            <a:r>
              <a:rPr lang="en-US" sz="1200">
                <a:latin typeface="Arial"/>
                <a:ea typeface="ＭＳ Ｐゴシック"/>
                <a:cs typeface="Arial"/>
              </a:rPr>
              <a:t> Cuts down manual paperwork by up to 70%, allowing workers to cover more households effectively.</a:t>
            </a:r>
            <a:endParaRPr lang="en-US" sz="1200">
              <a:latin typeface="Arial"/>
              <a:ea typeface="Calibri"/>
              <a:cs typeface="Arial"/>
            </a:endParaRPr>
          </a:p>
          <a:p>
            <a:pPr algn="ctr"/>
            <a:endParaRPr lang="en-US" sz="1200"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FBBEEF-82AF-3605-F431-E5ADBD7A031F}"/>
              </a:ext>
            </a:extLst>
          </p:cNvPr>
          <p:cNvSpPr txBox="1"/>
          <p:nvPr/>
        </p:nvSpPr>
        <p:spPr>
          <a:xfrm>
            <a:off x="8613587" y="1492392"/>
            <a:ext cx="345055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Arial"/>
                <a:ea typeface="ＭＳ Ｐゴシック"/>
                <a:cs typeface="Arial"/>
              </a:rPr>
              <a:t>3. Government &amp; District Administration</a:t>
            </a:r>
          </a:p>
          <a:p>
            <a:endParaRPr lang="en-US" sz="12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Epidemiological Insights:</a:t>
            </a:r>
            <a:r>
              <a:rPr lang="en-US" sz="1200">
                <a:latin typeface="Arial"/>
                <a:ea typeface="ＭＳ Ｐゴシック"/>
                <a:cs typeface="Arial"/>
              </a:rPr>
              <a:t> Empowers health authorities with real-time dashboards to track disease patterns, facility loads, and resource bottlenecks.</a:t>
            </a:r>
            <a:endParaRPr lang="en-US" sz="1200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 dirty="0">
                <a:latin typeface="Arial"/>
                <a:ea typeface="ＭＳ Ｐゴシック"/>
                <a:cs typeface="Arial"/>
              </a:rPr>
              <a:t>System Optimization:</a:t>
            </a:r>
            <a:r>
              <a:rPr lang="en-US" sz="1200" dirty="0">
                <a:latin typeface="Arial"/>
                <a:ea typeface="ＭＳ Ｐゴシック"/>
                <a:cs typeface="Arial"/>
              </a:rPr>
              <a:t> Seamlessly integrates grassroots operations with national initiatives like </a:t>
            </a:r>
            <a:r>
              <a:rPr lang="en-US" sz="1200" b="1" dirty="0">
                <a:latin typeface="Arial"/>
                <a:ea typeface="ＭＳ Ｐゴシック"/>
                <a:cs typeface="Arial"/>
              </a:rPr>
              <a:t>ABDM</a:t>
            </a:r>
            <a:r>
              <a:rPr lang="en-US" sz="1200" dirty="0">
                <a:latin typeface="Arial"/>
                <a:ea typeface="ＭＳ Ｐゴシック"/>
                <a:cs typeface="Arial"/>
              </a:rPr>
              <a:t> and </a:t>
            </a:r>
            <a:r>
              <a:rPr lang="en-US" sz="1200" b="1" dirty="0" err="1">
                <a:latin typeface="Arial"/>
                <a:ea typeface="ＭＳ Ｐゴシック"/>
                <a:cs typeface="Arial"/>
              </a:rPr>
              <a:t>eSanjeevani</a:t>
            </a:r>
            <a:r>
              <a:rPr lang="en-US" sz="1200" dirty="0">
                <a:latin typeface="Arial"/>
                <a:ea typeface="ＭＳ Ｐゴシック"/>
                <a:cs typeface="Arial"/>
              </a:rPr>
              <a:t>.</a:t>
            </a:r>
          </a:p>
          <a:p>
            <a:pPr algn="ctr"/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1D87D-50FE-D784-E7AF-0CECBC4B1336}"/>
              </a:ext>
            </a:extLst>
          </p:cNvPr>
          <p:cNvSpPr txBox="1"/>
          <p:nvPr/>
        </p:nvSpPr>
        <p:spPr>
          <a:xfrm>
            <a:off x="4930588" y="818029"/>
            <a:ext cx="377952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>
                <a:solidFill>
                  <a:srgbClr val="FF0000"/>
                </a:solidFill>
                <a:latin typeface="Calibri"/>
                <a:ea typeface="ＭＳ Ｐゴシック"/>
              </a:rPr>
              <a:t>Target Audience Impact Analysis</a:t>
            </a:r>
            <a:endParaRPr lang="en-US" sz="2000">
              <a:solidFill>
                <a:srgbClr val="FF0000"/>
              </a:solidFill>
              <a:ea typeface="ＭＳ Ｐゴシック"/>
              <a:cs typeface="Calibri"/>
            </a:endParaRPr>
          </a:p>
          <a:p>
            <a:pPr algn="ctr"/>
            <a:endParaRPr lang="en-US" sz="320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2DF76-7BC5-458F-A293-D7B024A62097}"/>
              </a:ext>
            </a:extLst>
          </p:cNvPr>
          <p:cNvSpPr txBox="1"/>
          <p:nvPr/>
        </p:nvSpPr>
        <p:spPr>
          <a:xfrm>
            <a:off x="5315036" y="3403428"/>
            <a:ext cx="266192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 baseline="30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Benefit Analysis</a:t>
            </a:r>
            <a:endParaRPr lang="en-US" sz="3200">
              <a:solidFill>
                <a:srgbClr val="FF0000"/>
              </a:solidFill>
              <a:cs typeface="Calibri"/>
            </a:endParaRPr>
          </a:p>
          <a:p>
            <a:pPr algn="ctr"/>
            <a:endParaRPr lang="en-US" sz="3200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A2F45-6008-491E-84DD-9B7A2A1F6E37}"/>
              </a:ext>
            </a:extLst>
          </p:cNvPr>
          <p:cNvSpPr txBox="1"/>
          <p:nvPr/>
        </p:nvSpPr>
        <p:spPr>
          <a:xfrm>
            <a:off x="374679" y="4004523"/>
            <a:ext cx="404532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rial"/>
                <a:ea typeface="ＭＳ Ｐゴシック"/>
                <a:cs typeface="Arial"/>
              </a:rPr>
              <a:t>1. Social &amp; Public Health Benefits</a:t>
            </a:r>
          </a:p>
          <a:p>
            <a:endParaRPr lang="en-US" sz="12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cs typeface="Arial"/>
              </a:rPr>
              <a:t>Mortality Reduction:</a:t>
            </a:r>
            <a:r>
              <a:rPr lang="en-US" sz="1200">
                <a:latin typeface="Arial"/>
                <a:cs typeface="Arial"/>
              </a:rPr>
              <a:t> Drastically lowers maternal, infant, and critical illness mortality through automated high-risk escalation.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cs typeface="Arial"/>
              </a:rPr>
              <a:t>Healthcare Equity:</a:t>
            </a:r>
            <a:r>
              <a:rPr lang="en-US" sz="1200">
                <a:latin typeface="Arial"/>
                <a:cs typeface="Arial"/>
              </a:rPr>
              <a:t> Bridges the urban-rural divide by bringing specialist medical advice to underserved populations.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cs typeface="Arial"/>
              </a:rPr>
              <a:t>Preventive Care:</a:t>
            </a:r>
            <a:r>
              <a:rPr lang="en-US" sz="1200">
                <a:latin typeface="Arial"/>
                <a:cs typeface="Arial"/>
              </a:rPr>
              <a:t> Encourages early diagnosis and proactive follow-ups through automated reminder alerts.</a:t>
            </a:r>
          </a:p>
          <a:p>
            <a:pPr algn="ctr"/>
            <a:endParaRPr lang="en-US" sz="12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B7E1E-F78B-28E8-5189-9476664C7E86}"/>
              </a:ext>
            </a:extLst>
          </p:cNvPr>
          <p:cNvSpPr txBox="1"/>
          <p:nvPr/>
        </p:nvSpPr>
        <p:spPr>
          <a:xfrm>
            <a:off x="4591826" y="3949929"/>
            <a:ext cx="3515487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0B0F0"/>
                </a:solidFill>
                <a:latin typeface="Arial"/>
                <a:ea typeface="ＭＳ Ｐゴシック"/>
                <a:cs typeface="Arial"/>
              </a:rPr>
              <a:t>2. Economic Benefits</a:t>
            </a:r>
          </a:p>
          <a:p>
            <a:endParaRPr lang="en-US" sz="12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Cost Savings:</a:t>
            </a:r>
            <a:r>
              <a:rPr lang="en-US" sz="1200">
                <a:latin typeface="Arial"/>
                <a:ea typeface="ＭＳ Ｐゴシック"/>
                <a:cs typeface="Arial"/>
              </a:rPr>
              <a:t> Minimizes catastrophic out-of-pocket health and travel expenditures for rural households.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Operational Efficiency:</a:t>
            </a:r>
            <a:r>
              <a:rPr lang="en-US" sz="1200">
                <a:latin typeface="Arial"/>
                <a:ea typeface="ＭＳ Ｐゴシック"/>
                <a:cs typeface="Arial"/>
              </a:rPr>
              <a:t> Optimizes the utilization of public hospital beds, medical staff, and diagnostic resources.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Scalable Public Model:</a:t>
            </a:r>
            <a:r>
              <a:rPr lang="en-US" sz="1200">
                <a:latin typeface="Arial"/>
                <a:ea typeface="ＭＳ Ｐゴシック"/>
                <a:cs typeface="Arial"/>
              </a:rPr>
              <a:t> High economic viability for district and state-wide deployment with minimal hardware overhead.</a:t>
            </a:r>
          </a:p>
          <a:p>
            <a:pPr algn="ctr"/>
            <a:endParaRPr lang="en-US"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354D0-228F-E305-008F-61A707F57A07}"/>
              </a:ext>
            </a:extLst>
          </p:cNvPr>
          <p:cNvSpPr txBox="1"/>
          <p:nvPr/>
        </p:nvSpPr>
        <p:spPr>
          <a:xfrm>
            <a:off x="8470474" y="3708861"/>
            <a:ext cx="373129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92D050"/>
                </a:solidFill>
                <a:latin typeface="Arial"/>
                <a:ea typeface="ＭＳ Ｐゴシック"/>
                <a:cs typeface="Arial"/>
              </a:rPr>
              <a:t>3. Digital-First Approach</a:t>
            </a:r>
          </a:p>
          <a:p>
            <a:endParaRPr lang="en-US" sz="1200" b="1" dirty="0">
              <a:latin typeface="Arial"/>
              <a:ea typeface="ＭＳ Ｐゴシック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Paperless Coordination:</a:t>
            </a:r>
            <a:r>
              <a:rPr lang="en-US" sz="1200">
                <a:latin typeface="Arial"/>
                <a:ea typeface="ＭＳ Ｐゴシック"/>
                <a:cs typeface="Arial"/>
              </a:rPr>
              <a:t> Eliminates the need for physical paper registers and fragmented record-keeping.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Interoperable Records:</a:t>
            </a:r>
            <a:r>
              <a:rPr lang="en-US" sz="1200">
                <a:latin typeface="Arial"/>
                <a:ea typeface="ＭＳ Ｐゴシック"/>
                <a:cs typeface="Arial"/>
              </a:rPr>
              <a:t> Secure digital health records ensure seamless information exchange across different tiers of healthcare facilities.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Disaster Resilience:</a:t>
            </a:r>
            <a:r>
              <a:rPr lang="en-US" sz="1200">
                <a:latin typeface="Arial"/>
                <a:ea typeface="ＭＳ Ｐゴシック"/>
                <a:cs typeface="Arial"/>
              </a:rPr>
              <a:t> Cloud-backed digital backups protect critical patient records against physical damage or local disasters.</a:t>
            </a:r>
          </a:p>
          <a:p>
            <a:pPr marL="228600" indent="-228600">
              <a:buFont typeface=""/>
              <a:buChar char="•"/>
            </a:pPr>
            <a:r>
              <a:rPr lang="en-US" sz="1200" b="1">
                <a:latin typeface="Arial"/>
                <a:ea typeface="ＭＳ Ｐゴシック"/>
                <a:cs typeface="Arial"/>
              </a:rPr>
              <a:t>Sustainable Access:</a:t>
            </a:r>
            <a:r>
              <a:rPr lang="en-US" sz="1200">
                <a:latin typeface="Arial"/>
                <a:ea typeface="ＭＳ Ｐゴシック"/>
                <a:cs typeface="Arial"/>
              </a:rPr>
              <a:t> Unlimited digital care coordination and tracking vs. limited, bottlenecked physical visits.</a:t>
            </a:r>
          </a:p>
          <a:p>
            <a:pPr algn="ctr"/>
            <a:endParaRPr lang="en-US" sz="1200" dirty="0">
              <a:latin typeface="Arial"/>
              <a:cs typeface="Arial"/>
            </a:endParaRPr>
          </a:p>
        </p:txBody>
      </p:sp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F8DB2D8B-1FC1-EF56-AA28-D83ED9C305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6573" y="110006"/>
            <a:ext cx="1416359" cy="5238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r>
              <a:rPr lang="en-US" sz="1100" b="1" dirty="0" err="1">
                <a:latin typeface="Arial"/>
                <a:ea typeface="Calibri"/>
                <a:cs typeface="Arial"/>
              </a:rPr>
              <a:t>ChatGPTers</a:t>
            </a:r>
            <a:endParaRPr lang="en-US" sz="1100" b="1">
              <a:latin typeface="Arial"/>
              <a:ea typeface="Calibri"/>
              <a:cs typeface="Arial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35959" y="1089727"/>
            <a:ext cx="10864476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/>
              <a:buChar char="•"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Government &amp; National Health Policies</a:t>
            </a:r>
            <a:endParaRPr lang="en-US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Health Policy - Ministry of Health and Family Welfare, Government of India</a:t>
            </a:r>
            <a:endParaRPr lang="en-US" dirty="0">
              <a:solidFill>
                <a:prstClr val="black"/>
              </a:solidFill>
              <a:latin typeface="ＭＳ Ｐゴシック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Ayushman Bharat Digital Mission (ABDM) - Standards &amp; Guidelines</a:t>
            </a:r>
            <a:endParaRPr lang="en-US" dirty="0">
              <a:solidFill>
                <a:prstClr val="black"/>
              </a:solidFill>
              <a:latin typeface="ＭＳ Ｐゴシック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Health Authority (NHA) Strategic Document &amp; Frameworks</a:t>
            </a:r>
            <a:endParaRPr lang="en-US" dirty="0">
              <a:solidFill>
                <a:prstClr val="black"/>
              </a:solidFill>
              <a:latin typeface="ＭＳ Ｐゴシック"/>
              <a:ea typeface="ＭＳ Ｐゴシック"/>
              <a:cs typeface="Calibri"/>
            </a:endParaRPr>
          </a:p>
          <a:p>
            <a:pPr algn="just"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Telehealth &amp; Care Coordination Frameworks</a:t>
            </a:r>
            <a:endParaRPr lang="en-US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eSanjeevani - National Telemedicine Service Operational Guidelines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India Initiative: Transforming Public Health Delivery via eSanjeevani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Digital Health Interventions &amp; System Strengthening</a:t>
            </a:r>
            <a:endParaRPr lang="en-US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Guidelines on Digital Interventions for Health System Strengthening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Health Organization (WHO) - Recommendations on Mobile &amp; Electronic Health Technologies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lang="en-US" sz="20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Interoperability &amp; Data Standards</a:t>
            </a:r>
            <a:endParaRPr lang="en-US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HL7 FHIR R4 Standards for Interoperable Electronic Health Records (EHR)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Guidelines on Electronic Health Record (EHR) Standards for India - MoHFW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lang="en-US"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A2A89D5-B5BA-8224-4AB8-C71287A9FC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6573" y="110006"/>
            <a:ext cx="1416359" cy="5238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endParaRPr lang="en-US" sz="1100" b="1" dirty="0">
              <a:ea typeface="Calibri"/>
              <a:cs typeface="Calibri"/>
            </a:endParaRPr>
          </a:p>
          <a:p>
            <a:pPr algn="ctr"/>
            <a:r>
              <a:rPr lang="en-US" sz="1100" b="1" dirty="0" err="1">
                <a:latin typeface="Arial"/>
                <a:ea typeface="Calibri"/>
                <a:cs typeface="Arial"/>
              </a:rPr>
              <a:t>ChatGPTers</a:t>
            </a:r>
            <a:endParaRPr lang="en-US" sz="1100" b="1">
              <a:latin typeface="Arial"/>
              <a:ea typeface="Calibri"/>
              <a:cs typeface="Arial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  <a:p>
            <a:pPr algn="ctr"/>
            <a:endParaRPr lang="en-US" sz="16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173</cp:revision>
  <dcterms:created xsi:type="dcterms:W3CDTF">2013-12-12T18:46:50Z</dcterms:created>
  <dcterms:modified xsi:type="dcterms:W3CDTF">2026-08-30T12:29:30Z</dcterms:modified>
  <cp:category/>
</cp:coreProperties>
</file>